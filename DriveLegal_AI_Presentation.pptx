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2A0"/>
          </a:solidFill>
          <a:ln w="12700">
            <a:solidFill>
              <a:srgbClr val="00C2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1A3461"/>
          </a:solidFill>
          <a:ln w="12700">
            <a:solidFill>
              <a:srgbClr val="1A34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274320"/>
            <a:ext cx="2194560" cy="2194560"/>
          </a:xfrm>
          <a:prstGeom prst="ellipse">
            <a:avLst/>
          </a:prstGeom>
          <a:solidFill>
            <a:srgbClr val="122647"/>
          </a:solidFill>
          <a:ln w="12700">
            <a:solidFill>
              <a:srgbClr val="12264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37160"/>
            <a:ext cx="1097280" cy="1097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005840"/>
            <a:ext cx="3291840" cy="347472"/>
          </a:xfrm>
          <a:prstGeom prst="roundRect">
            <a:avLst>
              <a:gd name="adj" fmla="val 21053"/>
            </a:avLst>
          </a:prstGeom>
          <a:solidFill>
            <a:srgbClr val="00C2A0"/>
          </a:solidFill>
          <a:ln w="12700">
            <a:solidFill>
              <a:srgbClr val="00C2A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0058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ROAD SAFETY HACKATHON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15087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DriveLegal AI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457200" y="2514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0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AI-Powered Traffic Law Assistant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5720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rights. Calculate your fines. Dispute unfair challans.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4480560"/>
            <a:ext cx="7772400" cy="914"/>
          </a:xfrm>
          <a:prstGeom prst="rect">
            <a:avLst/>
          </a:prstGeom>
          <a:solidFill>
            <a:srgbClr val="1A3461"/>
          </a:solidFill>
          <a:ln w="12700">
            <a:solidFill>
              <a:srgbClr val="1A34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CoERS, IIT Madras  ×  Ministry of Road Transport &amp; Highways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64008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1737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BA0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274320" y="210312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228600" y="30175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₹11,000 Cr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28600" y="32918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challan revenue 2023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28600" y="3611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Crore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28600" y="38862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owners affected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28600" y="4206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28600" y="44805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overcharged every year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749040" y="365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citizens face daily: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3749040" y="1005840"/>
            <a:ext cx="5120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840480" y="1051560"/>
            <a:ext cx="4937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Don't know exact legal fine amounts under MV Act 2019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3749040" y="1709928"/>
            <a:ext cx="5120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840480" y="1755648"/>
            <a:ext cx="4937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Unaware of constitutional rights at police checkpoints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3749040" y="2414016"/>
            <a:ext cx="5120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840480" y="2459736"/>
            <a:ext cx="4937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Can't afford a lawyer to draft a formal dispute letter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3749040" y="3118104"/>
            <a:ext cx="5120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3840480" y="3163824"/>
            <a:ext cx="4937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Ignorant of state-specific traffic rule variations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3749040" y="3822192"/>
            <a:ext cx="5120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3840480" y="3867912"/>
            <a:ext cx="4937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free, multilingual tool exists for this problem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free app that answers every traffic law question for every Indian driver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2606040" cy="1508760"/>
          </a:xfrm>
          <a:prstGeom prst="rect">
            <a:avLst/>
          </a:prstGeom>
          <a:solidFill>
            <a:srgbClr val="1A3461"/>
          </a:solidFill>
          <a:ln w="6350">
            <a:solidFill>
              <a:srgbClr val="1E3D7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17320"/>
            <a:ext cx="2606040" cy="64008"/>
          </a:xfrm>
          <a:prstGeom prst="rect">
            <a:avLst/>
          </a:prstGeom>
          <a:solidFill>
            <a:srgbClr val="00C2A0"/>
          </a:solidFill>
          <a:ln w="12700">
            <a:solidFill>
              <a:srgbClr val="00C2A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6002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60020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1031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 traffic question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10+ Indian languages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00400" y="1417320"/>
            <a:ext cx="2606040" cy="1508760"/>
          </a:xfrm>
          <a:prstGeom prst="rect">
            <a:avLst/>
          </a:prstGeom>
          <a:solidFill>
            <a:srgbClr val="1A3461"/>
          </a:solidFill>
          <a:ln w="6350">
            <a:solidFill>
              <a:srgbClr val="1E3D7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0" y="1417320"/>
            <a:ext cx="260604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6002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40480" y="160020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Letters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37560" y="21031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print-ready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dispute letters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35040" y="1417320"/>
            <a:ext cx="2606040" cy="1508760"/>
          </a:xfrm>
          <a:prstGeom prst="rect">
            <a:avLst/>
          </a:prstGeom>
          <a:solidFill>
            <a:srgbClr val="1A3461"/>
          </a:solidFill>
          <a:ln w="6350">
            <a:solidFill>
              <a:srgbClr val="1E3D7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035040" y="1417320"/>
            <a:ext cx="2606040" cy="64008"/>
          </a:xfrm>
          <a:prstGeom prst="rect">
            <a:avLst/>
          </a:prstGeom>
          <a:solidFill>
            <a:srgbClr val="63B3ED"/>
          </a:solidFill>
          <a:ln w="12700">
            <a:solidFill>
              <a:srgbClr val="63B3E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60020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75120" y="160020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Calculator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172200" y="21031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MV Act 2019 fines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30+ violations, 18 states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65760" y="3108960"/>
            <a:ext cx="2606040" cy="1508760"/>
          </a:xfrm>
          <a:prstGeom prst="rect">
            <a:avLst/>
          </a:prstGeom>
          <a:solidFill>
            <a:srgbClr val="1A3461"/>
          </a:solidFill>
          <a:ln w="6350">
            <a:solidFill>
              <a:srgbClr val="1E3D7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65760" y="3108960"/>
            <a:ext cx="2606040" cy="64008"/>
          </a:xfrm>
          <a:prstGeom prst="rect">
            <a:avLst/>
          </a:prstGeom>
          <a:solidFill>
            <a:srgbClr val="FC8181"/>
          </a:solidFill>
          <a:ln w="12700">
            <a:solidFill>
              <a:srgbClr val="FC818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29184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05840" y="329184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Rights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02920" y="37947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officers can/cannot do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checkpoints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200400" y="3108960"/>
            <a:ext cx="2606040" cy="1508760"/>
          </a:xfrm>
          <a:prstGeom prst="rect">
            <a:avLst/>
          </a:prstGeom>
          <a:solidFill>
            <a:srgbClr val="1A3461"/>
          </a:solidFill>
          <a:ln w="6350">
            <a:solidFill>
              <a:srgbClr val="1E3D7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200400" y="3108960"/>
            <a:ext cx="2606040" cy="64008"/>
          </a:xfrm>
          <a:prstGeom prst="rect">
            <a:avLst/>
          </a:prstGeom>
          <a:solidFill>
            <a:srgbClr val="B794F4"/>
          </a:solidFill>
          <a:ln w="12700">
            <a:solidFill>
              <a:srgbClr val="B794F4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3291840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40480" y="329184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Challan Validator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337560" y="37947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photo — AI checks if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fine is legally correct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035040" y="3108960"/>
            <a:ext cx="2606040" cy="1508760"/>
          </a:xfrm>
          <a:prstGeom prst="rect">
            <a:avLst/>
          </a:prstGeom>
          <a:solidFill>
            <a:srgbClr val="1A3461"/>
          </a:solidFill>
          <a:ln w="6350">
            <a:solidFill>
              <a:srgbClr val="1E3D7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035040" y="3108960"/>
            <a:ext cx="2606040" cy="64008"/>
          </a:xfrm>
          <a:prstGeom prst="rect">
            <a:avLst/>
          </a:prstGeom>
          <a:solidFill>
            <a:srgbClr val="68D391"/>
          </a:solidFill>
          <a:ln w="12700">
            <a:solidFill>
              <a:srgbClr val="68D391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9632" y="3291840"/>
            <a:ext cx="411480" cy="4114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675120" y="329184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Comparator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172200" y="37947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rules for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2 Indian states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architecture · Powerful results · Works offline for non-AI features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737360" cy="20116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1554480"/>
            <a:ext cx="694944" cy="694944"/>
          </a:xfrm>
          <a:prstGeom prst="ellipse">
            <a:avLst/>
          </a:prstGeom>
          <a:solidFill>
            <a:srgbClr val="00C2A0"/>
          </a:solidFill>
          <a:ln w="12700">
            <a:solidFill>
              <a:srgbClr val="00C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55448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Query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or challan photo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any Indian language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76272" y="2377440"/>
            <a:ext cx="502920" cy="0"/>
          </a:xfrm>
          <a:prstGeom prst="line">
            <a:avLst/>
          </a:prstGeom>
          <a:noFill/>
          <a:ln w="25400">
            <a:solidFill>
              <a:srgbClr val="00C2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22402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2A0"/>
                </a:solidFill>
              </a:rPr>
              <a:t>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15768" y="1371600"/>
            <a:ext cx="1737360" cy="20116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36976" y="1554480"/>
            <a:ext cx="694944" cy="69494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36976" y="155448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807208" y="23774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Laws Database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07208" y="27432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 Act 2019 + 18 state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— no external DB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26280" y="2377440"/>
            <a:ext cx="502920" cy="0"/>
          </a:xfrm>
          <a:prstGeom prst="line">
            <a:avLst/>
          </a:prstGeom>
          <a:noFill/>
          <a:ln w="25400">
            <a:solidFill>
              <a:srgbClr val="00C2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22402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2A0"/>
                </a:solidFill>
              </a:rPr>
              <a:t>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65776" y="1371600"/>
            <a:ext cx="1737360" cy="20116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86984" y="1554480"/>
            <a:ext cx="694944" cy="694944"/>
          </a:xfrm>
          <a:prstGeom prst="ellipse">
            <a:avLst/>
          </a:prstGeom>
          <a:solidFill>
            <a:srgbClr val="63B3ED"/>
          </a:solidFill>
          <a:ln w="12700">
            <a:solidFill>
              <a:srgbClr val="63B3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86984" y="155448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157216" y="23774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AI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57216" y="27432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claude-opus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exponential backoff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76288" y="2377440"/>
            <a:ext cx="502920" cy="0"/>
          </a:xfrm>
          <a:prstGeom prst="line">
            <a:avLst/>
          </a:prstGeom>
          <a:noFill/>
          <a:ln w="25400">
            <a:solidFill>
              <a:srgbClr val="00C2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60336" y="22402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2A0"/>
                </a:solidFill>
              </a:rPr>
              <a:t>▶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15784" y="1371600"/>
            <a:ext cx="1737360" cy="20116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936992" y="1554480"/>
            <a:ext cx="694944" cy="694944"/>
          </a:xfrm>
          <a:prstGeom prst="ellipse">
            <a:avLst/>
          </a:prstGeom>
          <a:solidFill>
            <a:srgbClr val="68D391"/>
          </a:solidFill>
          <a:ln w="12700">
            <a:solidFill>
              <a:srgbClr val="68D39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36992" y="155448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507224" y="23774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Streamlit UI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507224" y="27432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response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dark-theme interface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3657600"/>
            <a:ext cx="8321040" cy="10972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749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 Unit Tests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94360" y="4160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passing ✅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697480" y="3749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 Languages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2697480" y="4160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+ 10 Indian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00600" y="3749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 States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800600" y="4160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 Act 2019 data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903720" y="3749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 Python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03720" y="4160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Claude API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 &amp; Reach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0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every Indian road user — free, multilingual, and instantly accessible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560320" cy="1554480"/>
          </a:xfrm>
          <a:prstGeom prst="rect">
            <a:avLst/>
          </a:prstGeom>
          <a:solidFill>
            <a:srgbClr val="1A3461"/>
          </a:solidFill>
          <a:ln w="12700">
            <a:solidFill>
              <a:srgbClr val="1E3D7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2560320" cy="64008"/>
          </a:xfrm>
          <a:prstGeom prst="rect">
            <a:avLst/>
          </a:prstGeom>
          <a:solidFill>
            <a:srgbClr val="00C2A0"/>
          </a:solidFill>
          <a:ln w="12700">
            <a:solidFill>
              <a:srgbClr val="00C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2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30+ Crore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owners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use this today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417320"/>
            <a:ext cx="2560320" cy="1554480"/>
          </a:xfrm>
          <a:prstGeom prst="rect">
            <a:avLst/>
          </a:prstGeom>
          <a:solidFill>
            <a:srgbClr val="1A3461"/>
          </a:solidFill>
          <a:ln w="12700">
            <a:solidFill>
              <a:srgbClr val="1E3D7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417320"/>
            <a:ext cx="256032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6002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 States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91840" y="21945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State-specific laws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integrated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417320"/>
            <a:ext cx="2560320" cy="1554480"/>
          </a:xfrm>
          <a:prstGeom prst="rect">
            <a:avLst/>
          </a:prstGeom>
          <a:solidFill>
            <a:srgbClr val="1A3461"/>
          </a:solidFill>
          <a:ln w="12700">
            <a:solidFill>
              <a:srgbClr val="1E3D7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417320"/>
            <a:ext cx="2560320" cy="64008"/>
          </a:xfrm>
          <a:prstGeom prst="rect">
            <a:avLst/>
          </a:prstGeom>
          <a:solidFill>
            <a:srgbClr val="68D391"/>
          </a:solidFill>
          <a:ln w="12700">
            <a:solidFill>
              <a:srgbClr val="68D3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6002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8D39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126480" y="21945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the user 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free forever</a:t>
            </a:r>
            <a:endParaRPr lang="en-US" sz="11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46120"/>
            <a:ext cx="365760" cy="3657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14400" y="320040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corruption — citizens know exact fine amounts, can reject overcharging on the spot</a:t>
            </a:r>
            <a:endParaRPr lang="en-US" sz="10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324612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12080" y="320040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in 11 Indian languages — bridges the language barrier for rural &amp; semi-urban users</a:t>
            </a:r>
            <a:endParaRPr lang="en-US" sz="10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06908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14400" y="40233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 calculator discourages drunk driving before the driver gets behind the wheel</a:t>
            </a:r>
            <a:endParaRPr lang="en-US" sz="10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406908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12080" y="40233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dispute letters reduce dependency on expensive legal counsel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 Highlights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features — fully deployed at rohitheevlsi-drivelegal-ai.onrender.com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937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54864" cy="1051560"/>
          </a:xfrm>
          <a:prstGeom prst="rect">
            <a:avLst/>
          </a:prstGeom>
          <a:solidFill>
            <a:srgbClr val="00C2A0"/>
          </a:solidFill>
          <a:ln w="12700">
            <a:solidFill>
              <a:srgbClr val="00C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38074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" y="162763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gets ₹10,000 fine for overspeeding in Tamil Nadu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30352" y="190195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App shows legal limit is ₹2,000 → generates dispute letter in 10 sec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4937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514600"/>
            <a:ext cx="54864" cy="1051560"/>
          </a:xfrm>
          <a:prstGeom prst="rect">
            <a:avLst/>
          </a:prstGeom>
          <a:solidFill>
            <a:srgbClr val="00C2A0"/>
          </a:solidFill>
          <a:ln w="12700">
            <a:solidFill>
              <a:srgbClr val="00C2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56946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281635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demands DL surrender at a checkpoint in Delhi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0352" y="309067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Rights Advisor: officers cannot seize DL without a court order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703320"/>
            <a:ext cx="4937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703320"/>
            <a:ext cx="54864" cy="1051560"/>
          </a:xfrm>
          <a:prstGeom prst="rect">
            <a:avLst/>
          </a:prstGeom>
          <a:solidFill>
            <a:srgbClr val="00C2A0"/>
          </a:solidFill>
          <a:ln w="12700">
            <a:solidFill>
              <a:srgbClr val="00C2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75818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" y="400507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2 beers — is it safe to drive?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30352" y="427939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BAC calculator (Widmark formula) gives real blood alcohol estimate with legal context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325880"/>
            <a:ext cx="3200400" cy="3520440"/>
          </a:xfrm>
          <a:prstGeom prst="rect">
            <a:avLst/>
          </a:prstGeom>
          <a:solidFill>
            <a:srgbClr val="0A1628"/>
          </a:solidFill>
          <a:ln w="12700">
            <a:solidFill>
              <a:srgbClr val="1A34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144475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715000" y="199339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Python 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715000" y="24688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Streamlit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715000" y="294436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Claude claude-opus-4-5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715000" y="3419856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8D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26 Unit Tests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715000" y="3895344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Render Cloud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715000" y="437083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79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MV Act 2019 DB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1A3461"/>
          </a:solidFill>
          <a:ln w="12700">
            <a:solidFill>
              <a:srgbClr val="1A34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474720"/>
            <a:ext cx="2011680" cy="2011680"/>
          </a:xfrm>
          <a:prstGeom prst="ellipse">
            <a:avLst/>
          </a:prstGeom>
          <a:solidFill>
            <a:srgbClr val="008F75"/>
          </a:solidFill>
          <a:ln w="12700">
            <a:solidFill>
              <a:srgbClr val="008F7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457200" y="24231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0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make Indian roads safer — one informed driver at a time.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57200" y="3108960"/>
            <a:ext cx="5943600" cy="530352"/>
          </a:xfrm>
          <a:prstGeom prst="rect">
            <a:avLst/>
          </a:prstGeom>
          <a:solidFill>
            <a:srgbClr val="1A3461"/>
          </a:solidFill>
          <a:ln w="12700">
            <a:solidFill>
              <a:srgbClr val="1E3D7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108960"/>
            <a:ext cx="5943600" cy="53035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Live App  </a:t>
            </a:r>
            <a:pPr indent="0" marL="0">
              <a:buNone/>
            </a:pPr>
            <a:r>
              <a:rPr lang="en-US" sz="1250" dirty="0">
                <a:solidFill>
                  <a:srgbClr val="00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rohitheevlsi-drivelegal-ai.onrender.com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3794760"/>
            <a:ext cx="5943600" cy="530352"/>
          </a:xfrm>
          <a:prstGeom prst="rect">
            <a:avLst/>
          </a:prstGeom>
          <a:solidFill>
            <a:srgbClr val="1A3461"/>
          </a:solidFill>
          <a:ln w="12700">
            <a:solidFill>
              <a:srgbClr val="1E3D7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3794760"/>
            <a:ext cx="5943600" cy="53035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GitHub  </a:t>
            </a:r>
            <a:pPr indent="0" marL="0">
              <a:buNone/>
            </a:pPr>
            <a:r>
              <a:rPr lang="en-US" sz="1250" dirty="0">
                <a:solidFill>
                  <a:srgbClr val="00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github.com/rohitheevlsi/rohitheevlsi-drivelegal-ai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Safety Hackathon 2026  ·  CoERS, IIT Madras  ×  MoRTH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DriveLegal AI — Road Safety Hackathon 2026</dc:title>
  <dc:subject>PptxGenJS Presentation</dc:subject>
  <dc:creator>PptxGenJS</dc:creator>
  <cp:lastModifiedBy>PptxGenJS</cp:lastModifiedBy>
  <cp:revision>1</cp:revision>
  <dcterms:created xsi:type="dcterms:W3CDTF">2026-05-28T11:18:12Z</dcterms:created>
  <dcterms:modified xsi:type="dcterms:W3CDTF">2026-05-28T11:18:12Z</dcterms:modified>
</cp:coreProperties>
</file>